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7" r:id="rId1"/>
  </p:sldMasterIdLst>
  <p:notesMasterIdLst>
    <p:notesMasterId r:id="rId20"/>
  </p:notesMasterIdLst>
  <p:sldIdLst>
    <p:sldId id="256" r:id="rId2"/>
    <p:sldId id="259" r:id="rId3"/>
    <p:sldId id="258" r:id="rId4"/>
    <p:sldId id="286" r:id="rId5"/>
    <p:sldId id="275" r:id="rId6"/>
    <p:sldId id="276" r:id="rId7"/>
    <p:sldId id="278" r:id="rId8"/>
    <p:sldId id="280" r:id="rId9"/>
    <p:sldId id="281" r:id="rId10"/>
    <p:sldId id="279" r:id="rId11"/>
    <p:sldId id="284" r:id="rId12"/>
    <p:sldId id="285" r:id="rId13"/>
    <p:sldId id="287" r:id="rId14"/>
    <p:sldId id="288" r:id="rId15"/>
    <p:sldId id="277" r:id="rId16"/>
    <p:sldId id="282" r:id="rId17"/>
    <p:sldId id="283" r:id="rId18"/>
    <p:sldId id="270" r:id="rId19"/>
  </p:sldIdLst>
  <p:sldSz cx="9144000" cy="5143500" type="screen16x9"/>
  <p:notesSz cx="6858000" cy="9144000"/>
  <p:embeddedFontLst>
    <p:embeddedFont>
      <p:font typeface="Alata" panose="020B0604020202020204" charset="0"/>
      <p:regular r:id="rId21"/>
    </p:embeddedFont>
    <p:embeddedFont>
      <p:font typeface="Anton" pitchFamily="2" charset="0"/>
      <p:regular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542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da27425ac0032446/Documents/visual%20fro%20sql%20projec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da27425ac0032446/Documents/visual%20fro%20sql%20projec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da27425ac0032446/Documents/visual%20fro%20sql%20project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da27425ac0032446/Documents/visual%20fro%20sql%20project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[visual fro sql project.xlsx]Sheet1!PivotTable3</c:name>
    <c:fmtId val="6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Track Vs Total_Count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Sheet1!$T$25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Sheet1!$S$26:$S$31</c:f>
              <c:strCache>
                <c:ptCount val="5"/>
                <c:pt idx="0">
                  <c:v>War Pigs</c:v>
                </c:pt>
                <c:pt idx="1">
                  <c:v>You Know I'm No Good (feat. Ghostface Killah)</c:v>
                </c:pt>
                <c:pt idx="2">
                  <c:v>I Looked At You</c:v>
                </c:pt>
                <c:pt idx="3">
                  <c:v>Scentless Apprentice</c:v>
                </c:pt>
                <c:pt idx="4">
                  <c:v>Violent Pornography</c:v>
                </c:pt>
              </c:strCache>
            </c:strRef>
          </c:cat>
          <c:val>
            <c:numRef>
              <c:f>Sheet1!$T$26:$T$31</c:f>
              <c:numCache>
                <c:formatCode>General</c:formatCode>
                <c:ptCount val="5"/>
                <c:pt idx="0">
                  <c:v>6</c:v>
                </c:pt>
                <c:pt idx="1">
                  <c:v>5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CD5-45E5-9201-0B6CEF130AC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1224706703"/>
        <c:axId val="1224707183"/>
      </c:barChart>
      <c:catAx>
        <c:axId val="1224706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4707183"/>
        <c:crosses val="autoZero"/>
        <c:auto val="1"/>
        <c:lblAlgn val="ctr"/>
        <c:lblOffset val="100"/>
        <c:noMultiLvlLbl val="0"/>
      </c:catAx>
      <c:valAx>
        <c:axId val="12247071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47067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[visual fro sql project.xlsx]Sheet1!PivotTable3</c:name>
    <c:fmtId val="6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Artist Vs Total_Count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Sheet1!$T$25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Sheet1!$S$26:$S$31</c:f>
              <c:strCache>
                <c:ptCount val="5"/>
                <c:pt idx="0">
                  <c:v>War Pigs</c:v>
                </c:pt>
                <c:pt idx="1">
                  <c:v>You Know I'm No Good (feat. Ghostface Killah)</c:v>
                </c:pt>
                <c:pt idx="2">
                  <c:v>I Looked At You</c:v>
                </c:pt>
                <c:pt idx="3">
                  <c:v>Scentless Apprentice</c:v>
                </c:pt>
                <c:pt idx="4">
                  <c:v>Violent Pornography</c:v>
                </c:pt>
              </c:strCache>
            </c:strRef>
          </c:cat>
          <c:val>
            <c:numRef>
              <c:f>Sheet1!$T$26:$T$31</c:f>
              <c:numCache>
                <c:formatCode>General</c:formatCode>
                <c:ptCount val="5"/>
                <c:pt idx="0">
                  <c:v>6</c:v>
                </c:pt>
                <c:pt idx="1">
                  <c:v>5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1BF-4ED7-92C3-D98299E26F4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1224706703"/>
        <c:axId val="1224707183"/>
      </c:barChart>
      <c:catAx>
        <c:axId val="1224706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4707183"/>
        <c:crosses val="autoZero"/>
        <c:auto val="1"/>
        <c:lblAlgn val="ctr"/>
        <c:lblOffset val="100"/>
        <c:noMultiLvlLbl val="0"/>
      </c:catAx>
      <c:valAx>
        <c:axId val="12247071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47067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[visual fro sql project.xlsx]Sheet1!PivotTable17</c:name>
    <c:fmtId val="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Country Vs Revenue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Sheet1!$AC$35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Sheet1!$AB$36:$AB$41</c:f>
              <c:strCache>
                <c:ptCount val="5"/>
                <c:pt idx="0">
                  <c:v>USA</c:v>
                </c:pt>
                <c:pt idx="1">
                  <c:v>Brazil</c:v>
                </c:pt>
                <c:pt idx="2">
                  <c:v>Canada</c:v>
                </c:pt>
                <c:pt idx="3">
                  <c:v>France</c:v>
                </c:pt>
                <c:pt idx="4">
                  <c:v>Germany</c:v>
                </c:pt>
              </c:strCache>
            </c:strRef>
          </c:cat>
          <c:val>
            <c:numRef>
              <c:f>Sheet1!$AC$36:$AC$41</c:f>
              <c:numCache>
                <c:formatCode>General</c:formatCode>
                <c:ptCount val="5"/>
                <c:pt idx="0">
                  <c:v>462.33</c:v>
                </c:pt>
                <c:pt idx="1">
                  <c:v>427.68</c:v>
                </c:pt>
                <c:pt idx="2">
                  <c:v>402.93</c:v>
                </c:pt>
                <c:pt idx="3">
                  <c:v>389.06999999999994</c:v>
                </c:pt>
                <c:pt idx="4">
                  <c:v>334.62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287-4230-93AE-8C1FB402F86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1601939503"/>
        <c:axId val="1601940943"/>
      </c:barChart>
      <c:catAx>
        <c:axId val="16019395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01940943"/>
        <c:crosses val="autoZero"/>
        <c:auto val="1"/>
        <c:lblAlgn val="ctr"/>
        <c:lblOffset val="100"/>
        <c:noMultiLvlLbl val="0"/>
      </c:catAx>
      <c:valAx>
        <c:axId val="16019409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019395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[visual fro sql project.xlsx]Sheet1!PivotTable16</c:name>
    <c:fmtId val="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Genre Vs 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diamond"/>
          <c:size val="5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Sheet1!$AH$5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Sheet1!$AG$6:$AG$23</c:f>
              <c:strCache>
                <c:ptCount val="17"/>
                <c:pt idx="0">
                  <c:v>TV Shows</c:v>
                </c:pt>
                <c:pt idx="1">
                  <c:v>Soundtrack</c:v>
                </c:pt>
                <c:pt idx="2">
                  <c:v>Heavy Metal</c:v>
                </c:pt>
                <c:pt idx="3">
                  <c:v>Classical</c:v>
                </c:pt>
                <c:pt idx="4">
                  <c:v>Electronica/Dance</c:v>
                </c:pt>
                <c:pt idx="5">
                  <c:v>Reggae</c:v>
                </c:pt>
                <c:pt idx="6">
                  <c:v>Easy Listening</c:v>
                </c:pt>
                <c:pt idx="7">
                  <c:v>Jazz</c:v>
                </c:pt>
                <c:pt idx="8">
                  <c:v>Hip Hop/Rap</c:v>
                </c:pt>
                <c:pt idx="9">
                  <c:v>Pop</c:v>
                </c:pt>
                <c:pt idx="10">
                  <c:v>Latin</c:v>
                </c:pt>
                <c:pt idx="11">
                  <c:v>Alternative</c:v>
                </c:pt>
                <c:pt idx="12">
                  <c:v>Blues</c:v>
                </c:pt>
                <c:pt idx="13">
                  <c:v>R&amp;B/Soul</c:v>
                </c:pt>
                <c:pt idx="14">
                  <c:v>Metal</c:v>
                </c:pt>
                <c:pt idx="15">
                  <c:v>Alternative &amp; Punk</c:v>
                </c:pt>
                <c:pt idx="16">
                  <c:v>Rock</c:v>
                </c:pt>
              </c:strCache>
            </c:strRef>
          </c:cat>
          <c:val>
            <c:numRef>
              <c:f>Sheet1!$AH$6:$AH$23</c:f>
              <c:numCache>
                <c:formatCode>General</c:formatCode>
                <c:ptCount val="17"/>
                <c:pt idx="0">
                  <c:v>0.99</c:v>
                </c:pt>
                <c:pt idx="1">
                  <c:v>1.98</c:v>
                </c:pt>
                <c:pt idx="2">
                  <c:v>2.97</c:v>
                </c:pt>
                <c:pt idx="3">
                  <c:v>3.96</c:v>
                </c:pt>
                <c:pt idx="4">
                  <c:v>4.95</c:v>
                </c:pt>
                <c:pt idx="5">
                  <c:v>5.94</c:v>
                </c:pt>
                <c:pt idx="6">
                  <c:v>12.87</c:v>
                </c:pt>
                <c:pt idx="7">
                  <c:v>13.86</c:v>
                </c:pt>
                <c:pt idx="8">
                  <c:v>19.8</c:v>
                </c:pt>
                <c:pt idx="9">
                  <c:v>21.78</c:v>
                </c:pt>
                <c:pt idx="10">
                  <c:v>21.78</c:v>
                </c:pt>
                <c:pt idx="11">
                  <c:v>34.65</c:v>
                </c:pt>
                <c:pt idx="12">
                  <c:v>35.64</c:v>
                </c:pt>
                <c:pt idx="13">
                  <c:v>52.47</c:v>
                </c:pt>
                <c:pt idx="14">
                  <c:v>122.76</c:v>
                </c:pt>
                <c:pt idx="15">
                  <c:v>128.69999999999999</c:v>
                </c:pt>
                <c:pt idx="16">
                  <c:v>555.39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C64-41B9-A85D-AC61A9B2641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15"/>
        <c:overlap val="-20"/>
        <c:axId val="1776594655"/>
        <c:axId val="1776598495"/>
      </c:barChart>
      <c:catAx>
        <c:axId val="177659465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76598495"/>
        <c:crosses val="autoZero"/>
        <c:auto val="1"/>
        <c:lblAlgn val="ctr"/>
        <c:lblOffset val="100"/>
        <c:noMultiLvlLbl val="0"/>
      </c:catAx>
      <c:valAx>
        <c:axId val="177659849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765946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34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ize="5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2ef931fea1c_1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g2ef931fea1c_1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ef931fea1c_1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g2ef931fea1c_1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ef931fea1c_1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g2ef931fea1c_1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ef931fea1c_1_2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g2ef931fea1c_1_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1869350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958900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lata"/>
              <a:buNone/>
              <a:defRPr sz="2800">
                <a:latin typeface="Alata"/>
                <a:ea typeface="Alata"/>
                <a:cs typeface="Alata"/>
                <a:sym typeface="Alat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>
            <a:spLocks noGrp="1"/>
          </p:cNvSpPr>
          <p:nvPr>
            <p:ph type="pic" idx="2"/>
          </p:nvPr>
        </p:nvSpPr>
        <p:spPr>
          <a:xfrm>
            <a:off x="656688" y="2359850"/>
            <a:ext cx="1691100" cy="1691100"/>
          </a:xfrm>
          <a:prstGeom prst="rect">
            <a:avLst/>
          </a:prstGeom>
          <a:noFill/>
          <a:ln>
            <a:noFill/>
          </a:ln>
        </p:spPr>
      </p:sp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" name="Google Shape;29;p6"/>
          <p:cNvSpPr>
            <a:spLocks noGrp="1"/>
          </p:cNvSpPr>
          <p:nvPr>
            <p:ph type="pic" idx="3"/>
          </p:nvPr>
        </p:nvSpPr>
        <p:spPr>
          <a:xfrm>
            <a:off x="6796213" y="2359850"/>
            <a:ext cx="1691100" cy="1691100"/>
          </a:xfrm>
          <a:prstGeom prst="rect">
            <a:avLst/>
          </a:prstGeom>
          <a:noFill/>
          <a:ln>
            <a:noFill/>
          </a:ln>
        </p:spPr>
      </p:sp>
      <p:sp>
        <p:nvSpPr>
          <p:cNvPr id="30" name="Google Shape;30;p6"/>
          <p:cNvSpPr>
            <a:spLocks noGrp="1"/>
          </p:cNvSpPr>
          <p:nvPr>
            <p:ph type="pic" idx="4"/>
          </p:nvPr>
        </p:nvSpPr>
        <p:spPr>
          <a:xfrm>
            <a:off x="2703196" y="2359850"/>
            <a:ext cx="1691100" cy="1691100"/>
          </a:xfrm>
          <a:prstGeom prst="rect">
            <a:avLst/>
          </a:prstGeom>
          <a:noFill/>
          <a:ln>
            <a:noFill/>
          </a:ln>
        </p:spPr>
      </p:sp>
      <p:sp>
        <p:nvSpPr>
          <p:cNvPr id="31" name="Google Shape;31;p6"/>
          <p:cNvSpPr>
            <a:spLocks noGrp="1"/>
          </p:cNvSpPr>
          <p:nvPr>
            <p:ph type="pic" idx="5"/>
          </p:nvPr>
        </p:nvSpPr>
        <p:spPr>
          <a:xfrm>
            <a:off x="4749704" y="2359850"/>
            <a:ext cx="1691100" cy="1691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41064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7"/>
          <p:cNvSpPr>
            <a:spLocks noGrp="1"/>
          </p:cNvSpPr>
          <p:nvPr>
            <p:ph type="pic" idx="2"/>
          </p:nvPr>
        </p:nvSpPr>
        <p:spPr>
          <a:xfrm>
            <a:off x="3814650" y="1349025"/>
            <a:ext cx="4657800" cy="2818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nton"/>
              <a:buNone/>
              <a:defRPr sz="2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nton"/>
              <a:buNone/>
              <a:defRPr sz="2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nton"/>
              <a:buNone/>
              <a:defRPr sz="2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nton"/>
              <a:buNone/>
              <a:defRPr sz="2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nton"/>
              <a:buNone/>
              <a:defRPr sz="2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nton"/>
              <a:buNone/>
              <a:defRPr sz="2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nton"/>
              <a:buNone/>
              <a:defRPr sz="2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nton"/>
              <a:buNone/>
              <a:defRPr sz="2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nton"/>
              <a:buNone/>
              <a:defRPr sz="2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nton"/>
              <a:buChar char="●"/>
              <a:defRPr sz="1800">
                <a:solidFill>
                  <a:schemeClr val="dk2"/>
                </a:solidFill>
                <a:latin typeface="Anton"/>
                <a:ea typeface="Anton"/>
                <a:cs typeface="Anton"/>
                <a:sym typeface="Anton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nton"/>
              <a:buChar char="○"/>
              <a:defRPr>
                <a:solidFill>
                  <a:schemeClr val="dk2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ata"/>
              <a:buChar char="■"/>
              <a:defRPr>
                <a:solidFill>
                  <a:schemeClr val="dk2"/>
                </a:solidFill>
                <a:latin typeface="Alata"/>
                <a:ea typeface="Alata"/>
                <a:cs typeface="Alata"/>
                <a:sym typeface="Alata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ata"/>
              <a:buChar char="●"/>
              <a:defRPr>
                <a:solidFill>
                  <a:schemeClr val="dk2"/>
                </a:solidFill>
                <a:latin typeface="Alata"/>
                <a:ea typeface="Alata"/>
                <a:cs typeface="Alata"/>
                <a:sym typeface="Alata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ata"/>
              <a:buChar char="○"/>
              <a:defRPr>
                <a:solidFill>
                  <a:schemeClr val="dk2"/>
                </a:solidFill>
                <a:latin typeface="Alata"/>
                <a:ea typeface="Alata"/>
                <a:cs typeface="Alata"/>
                <a:sym typeface="Alata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ata"/>
              <a:buChar char="■"/>
              <a:defRPr>
                <a:solidFill>
                  <a:schemeClr val="dk2"/>
                </a:solidFill>
                <a:latin typeface="Alata"/>
                <a:ea typeface="Alata"/>
                <a:cs typeface="Alata"/>
                <a:sym typeface="Alata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ata"/>
              <a:buChar char="●"/>
              <a:defRPr>
                <a:solidFill>
                  <a:schemeClr val="dk2"/>
                </a:solidFill>
                <a:latin typeface="Alata"/>
                <a:ea typeface="Alata"/>
                <a:cs typeface="Alata"/>
                <a:sym typeface="Alata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ata"/>
              <a:buChar char="○"/>
              <a:defRPr>
                <a:solidFill>
                  <a:schemeClr val="dk2"/>
                </a:solidFill>
                <a:latin typeface="Alata"/>
                <a:ea typeface="Alata"/>
                <a:cs typeface="Alata"/>
                <a:sym typeface="Alata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ata"/>
              <a:buChar char="■"/>
              <a:defRPr>
                <a:solidFill>
                  <a:schemeClr val="dk2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8F3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/>
          <p:nvPr/>
        </p:nvSpPr>
        <p:spPr>
          <a:xfrm>
            <a:off x="1889559" y="1088659"/>
            <a:ext cx="5364900" cy="2954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dirty="0"/>
              <a:t>CHINOOK MUSIC STORE</a:t>
            </a:r>
            <a:endParaRPr sz="8000" dirty="0"/>
          </a:p>
        </p:txBody>
      </p:sp>
      <p:sp>
        <p:nvSpPr>
          <p:cNvPr id="52" name="Google Shape;52;p11"/>
          <p:cNvSpPr txBox="1"/>
          <p:nvPr/>
        </p:nvSpPr>
        <p:spPr>
          <a:xfrm>
            <a:off x="514350" y="344488"/>
            <a:ext cx="1734918" cy="195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6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191515"/>
                </a:solidFill>
                <a:latin typeface="Anton"/>
                <a:sym typeface="Anton"/>
              </a:rPr>
              <a:t>Mohit Rahangdale</a:t>
            </a:r>
            <a:endParaRPr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8F3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"/>
          <p:cNvSpPr txBox="1"/>
          <p:nvPr/>
        </p:nvSpPr>
        <p:spPr>
          <a:xfrm>
            <a:off x="514350" y="516133"/>
            <a:ext cx="4631123" cy="384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0" i="0" u="none" strike="noStrike" cap="none" dirty="0">
                <a:solidFill>
                  <a:srgbClr val="191515"/>
                </a:solidFill>
                <a:latin typeface="Anton"/>
                <a:ea typeface="Anton"/>
                <a:cs typeface="Anton"/>
                <a:sym typeface="Anton"/>
              </a:rPr>
              <a:t>INTRODUCTION</a:t>
            </a:r>
            <a:endParaRPr sz="25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521126-5ACC-F8EA-4B9B-DADE86D9CC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562" y="2191989"/>
            <a:ext cx="3038475" cy="15049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53DBF3F-7B7E-993E-88E3-4EC9CE505271}"/>
              </a:ext>
            </a:extLst>
          </p:cNvPr>
          <p:cNvSpPr txBox="1"/>
          <p:nvPr/>
        </p:nvSpPr>
        <p:spPr>
          <a:xfrm>
            <a:off x="3975653" y="2030049"/>
            <a:ext cx="457200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dirty="0"/>
              <a:t>Established in 1995 in East Wenatchee, catering to musicians and schools in North Central WA.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dirty="0"/>
              <a:t>Focuses on providing band and orchestral instruments, as well as guitars and ukuleles.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dirty="0"/>
              <a:t>Offers lesson services in piano, drums, vocals, among others.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dirty="0"/>
              <a:t>Famous for school rental nights and instrument repair services.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8F3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AD5F0BE-E03C-35E6-DB71-55BE1D7EC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PROBLEM STATEMENT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D14B19-9744-FC56-8431-A65581F4A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385216"/>
            <a:ext cx="8520600" cy="1186534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dk1"/>
                </a:solidFill>
                <a:latin typeface="Alata" panose="020B0604020202020204" charset="0"/>
                <a:cs typeface="Alata" panose="020B0604020202020204" charset="0"/>
              </a:rPr>
              <a:t>You are hired as a data analyst at Chinook, and your objective is to analyze music record sales data to gain insights and make recommendations for the company's strategy in the physical music market.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>
              <a:latin typeface="Alata" panose="020B0604020202020204" charset="0"/>
              <a:cs typeface="Alata" panose="020B06040202020202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2CFF7-7ED0-25AA-8EEF-DA18AE780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DATABASE SCHEMA</a:t>
            </a:r>
            <a:endParaRPr lang="en-IN" dirty="0"/>
          </a:p>
        </p:txBody>
      </p:sp>
      <p:pic>
        <p:nvPicPr>
          <p:cNvPr id="4" name="Google Shape;79;p17">
            <a:extLst>
              <a:ext uri="{FF2B5EF4-FFF2-40B4-BE49-F238E27FC236}">
                <a16:creationId xmlns:a16="http://schemas.microsoft.com/office/drawing/2014/main" id="{D0776560-5145-DC80-9B6B-4359F2B4BA35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785612" y="1135380"/>
            <a:ext cx="4804148" cy="34163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92901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3B941-A1E8-DE08-1C96-A724D70DC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 OVERVIEW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E33D35-FD7B-3FD1-81CB-5DE31DC9AF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Alata" panose="020B0604020202020204" charset="0"/>
                <a:cs typeface="Alata" panose="020B0604020202020204" charset="0"/>
              </a:rPr>
              <a:t>Structure: 11 Interconnected Tables to represent a global digital media store.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>
              <a:latin typeface="Alata" panose="020B0604020202020204" charset="0"/>
              <a:cs typeface="Alata" panose="020B06040202020202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Alata" panose="020B0604020202020204" charset="0"/>
                <a:cs typeface="Alata" panose="020B0604020202020204" charset="0"/>
              </a:rPr>
              <a:t>Customers: 59 distinct customer profiles from 24 different countries worldwide, including USA, Brazil, Canada, Germany, etc.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>
              <a:latin typeface="Alata" panose="020B0604020202020204" charset="0"/>
              <a:cs typeface="Alata" panose="020B06040202020202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Alata" panose="020B0604020202020204" charset="0"/>
                <a:cs typeface="Alata" panose="020B0604020202020204" charset="0"/>
              </a:rPr>
              <a:t>Invoices: 412 total orders, including revenue, tax, and billing location information.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>
              <a:latin typeface="Alata" panose="020B0604020202020204" charset="0"/>
              <a:cs typeface="Alata" panose="020B06040202020202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Alata" panose="020B0604020202020204" charset="0"/>
                <a:cs typeface="Alata" panose="020B0604020202020204" charset="0"/>
              </a:rPr>
              <a:t>Product Catalog: 3,503 tracks across 25 genres and 5 media formats.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>
              <a:latin typeface="Alata" panose="020B0604020202020204" charset="0"/>
              <a:cs typeface="Alata" panose="020B06040202020202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Alata" panose="020B0604020202020204" charset="0"/>
                <a:cs typeface="Alata" panose="020B0604020202020204" charset="0"/>
              </a:rPr>
              <a:t>Relational Integrity: High-quality metadata to link Artists to Albums and Tracks to Invoice Lines.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>
              <a:latin typeface="Alata" panose="020B0604020202020204" charset="0"/>
              <a:cs typeface="Alata" panose="020B06040202020202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Alata" panose="020B0604020202020204" charset="0"/>
                <a:cs typeface="Alata" panose="020B0604020202020204" charset="0"/>
              </a:rPr>
              <a:t>Global Footprint: The data spans sales and customers in 24 countries.</a:t>
            </a:r>
            <a:endParaRPr lang="en-IN" sz="1400" dirty="0">
              <a:latin typeface="Alata" panose="020B0604020202020204" charset="0"/>
              <a:cs typeface="Alata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1327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55D28-CFAA-049B-DD78-7B8F9D8D8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5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 dirty="0"/>
              <a:t>METHODOLOGY</a:t>
            </a:r>
            <a:endParaRPr lang="en-IN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49E1220F-2758-75D6-BCD2-C9301E2BE4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11700" y="1475618"/>
            <a:ext cx="7481128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400" b="1" dirty="0">
                <a:solidFill>
                  <a:schemeClr val="tx1"/>
                </a:solidFill>
                <a:latin typeface="Arial" panose="020B0604020202020204" pitchFamily="34" charset="0"/>
              </a:rPr>
              <a:t>Data Cleaning: </a:t>
            </a:r>
            <a:r>
              <a:rPr lang="en-US" alt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Performed data cleaning by dealing with missing values and duplicates for precision.</a:t>
            </a: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en-US" sz="1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400" b="1" dirty="0">
                <a:solidFill>
                  <a:schemeClr val="tx1"/>
                </a:solidFill>
                <a:latin typeface="Arial" panose="020B0604020202020204" pitchFamily="34" charset="0"/>
              </a:rPr>
              <a:t>Sales and Customer Analysis: </a:t>
            </a:r>
            <a:r>
              <a:rPr lang="en-US" alt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Identified high sales areas and conducted customer analysis to determine high-performing regions, VIP customers, and low-active customers.</a:t>
            </a: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en-US" sz="1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400" b="1" dirty="0">
                <a:solidFill>
                  <a:schemeClr val="tx1"/>
                </a:solidFill>
                <a:latin typeface="Arial" panose="020B0604020202020204" pitchFamily="34" charset="0"/>
              </a:rPr>
              <a:t>Trends Analysis: </a:t>
            </a:r>
            <a:r>
              <a:rPr lang="en-US" alt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Conducted an analysis on the genre preference trend in the USA, which helped us determine the most loved music genres.</a:t>
            </a: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en-US" sz="1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400" b="1" dirty="0">
                <a:solidFill>
                  <a:schemeClr val="tx1"/>
                </a:solidFill>
                <a:latin typeface="Arial" panose="020B0604020202020204" pitchFamily="34" charset="0"/>
              </a:rPr>
              <a:t>Visualization and Insights: </a:t>
            </a:r>
            <a:r>
              <a:rPr lang="en-US" alt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Generated visualizations to communicate insights to the management team.</a:t>
            </a:r>
            <a:endParaRPr kumimoji="0" lang="en-US" altLang="en-US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8304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22BA47-1C7D-4033-2480-1EFDCF987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26" y="306653"/>
            <a:ext cx="6011796" cy="669659"/>
          </a:xfrm>
        </p:spPr>
        <p:txBody>
          <a:bodyPr>
            <a:normAutofit/>
          </a:bodyPr>
          <a:lstStyle/>
          <a:p>
            <a:r>
              <a:rPr lang="en-US" sz="2500" dirty="0"/>
              <a:t>TOP-SELLING TRACKS IN USA</a:t>
            </a:r>
            <a:endParaRPr lang="en-IN" sz="2500" dirty="0"/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1E9CB676-861E-6E4A-E90A-D43056D671A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11641177"/>
              </p:ext>
            </p:extLst>
          </p:nvPr>
        </p:nvGraphicFramePr>
        <p:xfrm>
          <a:off x="4676753" y="1309784"/>
          <a:ext cx="3795697" cy="26849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EEA31375-5B83-C220-DB53-A0FBFC5001B3}"/>
              </a:ext>
            </a:extLst>
          </p:cNvPr>
          <p:cNvSpPr txBox="1"/>
          <p:nvPr/>
        </p:nvSpPr>
        <p:spPr>
          <a:xfrm>
            <a:off x="490331" y="1880079"/>
            <a:ext cx="371723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lata" panose="020B0604020202020204" charset="0"/>
                <a:cs typeface="Alata" panose="020B0604020202020204" charset="0"/>
              </a:rPr>
              <a:t>In USA, “War Pigs” is the most selling track which has a total count of 6.</a:t>
            </a:r>
          </a:p>
          <a:p>
            <a:endParaRPr lang="en-US" dirty="0">
              <a:latin typeface="Alata" panose="020B0604020202020204" charset="0"/>
              <a:cs typeface="Alata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lata" panose="020B0604020202020204" charset="0"/>
                <a:cs typeface="Alata" panose="020B0604020202020204" charset="0"/>
              </a:rPr>
              <a:t>“You know I’m No Good” track is the second most selling track.</a:t>
            </a:r>
          </a:p>
          <a:p>
            <a:endParaRPr lang="en-US" dirty="0">
              <a:latin typeface="Alata" panose="020B0604020202020204" charset="0"/>
              <a:cs typeface="Alata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lata" panose="020B0604020202020204" charset="0"/>
                <a:cs typeface="Alata" panose="020B0604020202020204" charset="0"/>
              </a:rPr>
              <a:t>“I Looked At You”, “Scentless Apprentice” and “Violent Pornography” are the remaining tracks which have total count of 4.</a:t>
            </a:r>
            <a:endParaRPr lang="en-IN" dirty="0">
              <a:latin typeface="Alata" panose="020B0604020202020204" charset="0"/>
              <a:cs typeface="Alata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82052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AD8D6-63B0-3B72-739C-2A22C94EC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617" y="392023"/>
            <a:ext cx="5042533" cy="835311"/>
          </a:xfrm>
        </p:spPr>
        <p:txBody>
          <a:bodyPr>
            <a:normAutofit/>
          </a:bodyPr>
          <a:lstStyle/>
          <a:p>
            <a:r>
              <a:rPr lang="en-US" sz="2500" dirty="0"/>
              <a:t>TOP-ARTISTS IN USA</a:t>
            </a:r>
            <a:endParaRPr lang="en-IN" sz="2500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DFAF1E8D-33AD-4502-A600-0035919C034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79540633"/>
              </p:ext>
            </p:extLst>
          </p:nvPr>
        </p:nvGraphicFramePr>
        <p:xfrm>
          <a:off x="4770783" y="1227334"/>
          <a:ext cx="3434725" cy="26888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62D513F-2D71-590B-46A9-AB06EE17D37D}"/>
              </a:ext>
            </a:extLst>
          </p:cNvPr>
          <p:cNvSpPr txBox="1"/>
          <p:nvPr/>
        </p:nvSpPr>
        <p:spPr>
          <a:xfrm>
            <a:off x="490331" y="1880079"/>
            <a:ext cx="371723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lata" panose="020B0604020202020204" charset="0"/>
                <a:cs typeface="Alata" panose="020B0604020202020204" charset="0"/>
              </a:rPr>
              <a:t>In USA, Cake is the most selling artist which has a total count of 6.</a:t>
            </a:r>
          </a:p>
          <a:p>
            <a:endParaRPr lang="en-US" dirty="0">
              <a:latin typeface="Alata" panose="020B0604020202020204" charset="0"/>
              <a:cs typeface="Alata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lata" panose="020B0604020202020204" charset="0"/>
                <a:cs typeface="Alata" panose="020B0604020202020204" charset="0"/>
              </a:rPr>
              <a:t>Amry Winehouse is the second most selling artist in USA.</a:t>
            </a:r>
          </a:p>
          <a:p>
            <a:endParaRPr lang="en-US" dirty="0">
              <a:latin typeface="Alata" panose="020B0604020202020204" charset="0"/>
              <a:cs typeface="Alata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lata" panose="020B0604020202020204" charset="0"/>
                <a:cs typeface="Alata" panose="020B0604020202020204" charset="0"/>
              </a:rPr>
              <a:t>System of A Down, The Doors and Nirvana are the remaining artists which have total count of 4.</a:t>
            </a:r>
            <a:endParaRPr lang="en-IN" dirty="0">
              <a:latin typeface="Alata" panose="020B0604020202020204" charset="0"/>
              <a:cs typeface="Alata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35635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6AB24-2685-FFB8-993A-288C8F656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589" y="193906"/>
            <a:ext cx="6420759" cy="1146737"/>
          </a:xfrm>
        </p:spPr>
        <p:txBody>
          <a:bodyPr>
            <a:normAutofit/>
          </a:bodyPr>
          <a:lstStyle/>
          <a:p>
            <a:r>
              <a:rPr lang="en-US" sz="2500" dirty="0"/>
              <a:t>TOP 5 COUNTRY REVENUE WISE</a:t>
            </a:r>
            <a:endParaRPr lang="en-IN" sz="2500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44EC2DD9-25C7-EAE9-ED34-E8D67C1DEB0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60307353"/>
              </p:ext>
            </p:extLst>
          </p:nvPr>
        </p:nvGraphicFramePr>
        <p:xfrm>
          <a:off x="4406348" y="1498323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FBB99FB-674F-D9BE-71A6-3B8806122B02}"/>
              </a:ext>
            </a:extLst>
          </p:cNvPr>
          <p:cNvSpPr txBox="1"/>
          <p:nvPr/>
        </p:nvSpPr>
        <p:spPr>
          <a:xfrm>
            <a:off x="483704" y="1498323"/>
            <a:ext cx="304800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lata" panose="020B0604020202020204" charset="0"/>
                <a:cs typeface="Alata" panose="020B0604020202020204" charset="0"/>
              </a:rPr>
              <a:t>USA is the leading country in terms of revenue.</a:t>
            </a:r>
          </a:p>
          <a:p>
            <a:endParaRPr lang="en-US" dirty="0">
              <a:latin typeface="Alata" panose="020B0604020202020204" charset="0"/>
              <a:cs typeface="Alata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lata" panose="020B0604020202020204" charset="0"/>
                <a:cs typeface="Alata" panose="020B0604020202020204" charset="0"/>
              </a:rPr>
              <a:t>Brazil got the second most revenue.</a:t>
            </a:r>
          </a:p>
          <a:p>
            <a:endParaRPr lang="en-US" dirty="0">
              <a:latin typeface="Alata" panose="020B0604020202020204" charset="0"/>
              <a:cs typeface="Alata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lata" panose="020B0604020202020204" charset="0"/>
                <a:cs typeface="Alata" panose="020B0604020202020204" charset="0"/>
              </a:rPr>
              <a:t>Canada is third in total revenue.</a:t>
            </a:r>
          </a:p>
          <a:p>
            <a:endParaRPr lang="en-US" dirty="0">
              <a:latin typeface="Alata" panose="020B0604020202020204" charset="0"/>
              <a:cs typeface="Alata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lata" panose="020B0604020202020204" charset="0"/>
                <a:cs typeface="Alata" panose="020B0604020202020204" charset="0"/>
              </a:rPr>
              <a:t>The other countries are France, followed by Germany </a:t>
            </a:r>
            <a:endParaRPr lang="en-IN" dirty="0">
              <a:latin typeface="Alata" panose="020B0604020202020204" charset="0"/>
              <a:cs typeface="Alata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37870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DB7CE-4C96-BC88-43D5-AECE8B7C1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Sales in Different Genre</a:t>
            </a:r>
            <a:endParaRPr lang="en-IN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21760937-4904-BEEF-932C-A7B9C22640E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92046210"/>
              </p:ext>
            </p:extLst>
          </p:nvPr>
        </p:nvGraphicFramePr>
        <p:xfrm>
          <a:off x="4074770" y="1265235"/>
          <a:ext cx="4877346" cy="31961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037808D-B4D6-0382-E5DA-08CC195F49D7}"/>
              </a:ext>
            </a:extLst>
          </p:cNvPr>
          <p:cNvSpPr txBox="1"/>
          <p:nvPr/>
        </p:nvSpPr>
        <p:spPr>
          <a:xfrm>
            <a:off x="238813" y="2017023"/>
            <a:ext cx="301459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lata" panose="020B0604020202020204" charset="0"/>
                <a:cs typeface="Alata" panose="020B0604020202020204" charset="0"/>
              </a:rPr>
              <a:t>The genre which has the most revenue is Rock.</a:t>
            </a:r>
          </a:p>
          <a:p>
            <a:endParaRPr lang="en-US" dirty="0">
              <a:latin typeface="Alata" panose="020B0604020202020204" charset="0"/>
              <a:cs typeface="Alata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lata" panose="020B0604020202020204" charset="0"/>
                <a:cs typeface="Alata" panose="020B0604020202020204" charset="0"/>
              </a:rPr>
              <a:t>Alternative &amp; Punk and Metal are the second and third in the list.</a:t>
            </a:r>
          </a:p>
          <a:p>
            <a:endParaRPr lang="en-US" dirty="0">
              <a:latin typeface="Alata" panose="020B0604020202020204" charset="0"/>
              <a:cs typeface="Alata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lata" panose="020B0604020202020204" charset="0"/>
                <a:cs typeface="Alata" panose="020B0604020202020204" charset="0"/>
              </a:rPr>
              <a:t>TV shows are the last in the list of revenue generation.</a:t>
            </a:r>
            <a:endParaRPr lang="en-IN" dirty="0">
              <a:latin typeface="Alata" panose="020B0604020202020204" charset="0"/>
              <a:cs typeface="Alata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57746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3480C-1339-9FE0-A176-3C7039BEE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Customer Segment Comparison: Long-term vs New Customers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933C0F-BD70-74F2-57AD-5D98A9F7D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4587" y="1980736"/>
            <a:ext cx="3445291" cy="1961786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Alata" panose="020B0604020202020204" charset="0"/>
                <a:cs typeface="Alata" panose="020B0604020202020204" charset="0"/>
              </a:rPr>
              <a:t>The long-term buyers are increasingly active.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>
              <a:latin typeface="Alata" panose="020B0604020202020204" charset="0"/>
              <a:cs typeface="Alata" panose="020B06040202020202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Alata" panose="020B0604020202020204" charset="0"/>
                <a:cs typeface="Alata" panose="020B0604020202020204" charset="0"/>
              </a:rPr>
              <a:t>Their lifetime value is greater.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>
              <a:latin typeface="Alata" panose="020B0604020202020204" charset="0"/>
              <a:cs typeface="Alata" panose="020B06040202020202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Alata" panose="020B0604020202020204" charset="0"/>
                <a:cs typeface="Alata" panose="020B0604020202020204" charset="0"/>
              </a:rPr>
              <a:t>There is parity in the basket size of both types of buyers.</a:t>
            </a:r>
            <a:endParaRPr lang="en-IN" sz="1400" dirty="0">
              <a:latin typeface="Alata" panose="020B0604020202020204" charset="0"/>
              <a:cs typeface="Alata" panose="020B060402020202020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7548E5-CAF2-D4AF-1CE0-ABB3F4316F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5796" y="1520440"/>
            <a:ext cx="3624744" cy="29333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141585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C91B7-7212-D9F7-D2EB-DECA96ED6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Customer Risk Segmentation by Country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3D5AFA-9479-E0AB-6777-2F09626E98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357884"/>
            <a:ext cx="3882613" cy="341640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Alata" panose="020B0604020202020204" charset="0"/>
                <a:cs typeface="Alata" panose="020B0604020202020204" charset="0"/>
              </a:rPr>
              <a:t>The loyal ones comprise the majority, thus representing stability.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>
              <a:latin typeface="Alata" panose="020B0604020202020204" charset="0"/>
              <a:cs typeface="Alata" panose="020B06040202020202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Alata" panose="020B0604020202020204" charset="0"/>
                <a:cs typeface="Alata" panose="020B0604020202020204" charset="0"/>
              </a:rPr>
              <a:t>There is a significant number of those who have a higher tendency to churn.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>
              <a:latin typeface="Alata" panose="020B0604020202020204" charset="0"/>
              <a:cs typeface="Alata" panose="020B06040202020202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Alata" panose="020B0604020202020204" charset="0"/>
                <a:cs typeface="Alata" panose="020B0604020202020204" charset="0"/>
              </a:rPr>
              <a:t>There are certain markets where activities and churning are relatively high.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87CDFA-3C0B-BED9-6F32-59EACE5B69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7154" y="1652946"/>
            <a:ext cx="3904254" cy="241545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472108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17C24-2CA4-7B4F-658E-3B4FAFCB5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Customer Distribution, Value &amp; Churn Analysis by Country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93DF77-E2FD-866C-50BE-958B8CEECD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629553"/>
            <a:ext cx="3789848" cy="341640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Alata" panose="020B0604020202020204" charset="0"/>
                <a:cs typeface="Alata" panose="020B0604020202020204" charset="0"/>
              </a:rPr>
              <a:t>USA has the highest number of customers; most countries have low volume.</a:t>
            </a:r>
          </a:p>
          <a:p>
            <a:pPr marL="114300" indent="0">
              <a:buNone/>
            </a:pPr>
            <a:endParaRPr lang="en-US" sz="1400" dirty="0">
              <a:latin typeface="Alata" panose="020B0604020202020204" charset="0"/>
              <a:cs typeface="Alata" panose="020B06040202020202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Alata" panose="020B0604020202020204" charset="0"/>
                <a:cs typeface="Alata" panose="020B0604020202020204" charset="0"/>
              </a:rPr>
              <a:t>Customer value differs from one market to another.</a:t>
            </a:r>
          </a:p>
          <a:p>
            <a:pPr marL="114300" indent="0">
              <a:buNone/>
            </a:pPr>
            <a:endParaRPr lang="en-US" sz="1400" dirty="0">
              <a:latin typeface="Alata" panose="020B0604020202020204" charset="0"/>
              <a:cs typeface="Alata" panose="020B06040202020202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Alata" panose="020B0604020202020204" charset="0"/>
                <a:cs typeface="Alata" panose="020B0604020202020204" charset="0"/>
              </a:rPr>
              <a:t>High churn rates in specific regions reflect retention problems</a:t>
            </a:r>
            <a:endParaRPr lang="en-IN" sz="1400" dirty="0">
              <a:latin typeface="Alata" panose="020B0604020202020204" charset="0"/>
              <a:cs typeface="Alata" panose="020B060402020202020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EF2E85-78F8-5AE3-9BB9-BB1C9F42B0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0279" y="1676400"/>
            <a:ext cx="3600590" cy="2226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7383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0C51-4386-3831-B992-ED94F613C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Customer Value, Velocity &amp; Future Potential Analysis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926325-835C-EB55-A088-E4FB7A04B8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282" y="1282075"/>
            <a:ext cx="3796474" cy="341640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Alata" panose="020B0604020202020204" charset="0"/>
                <a:cs typeface="Alata" panose="020B0604020202020204" charset="0"/>
              </a:rPr>
              <a:t>The LTV is not consistent; very few people represent significant value.</a:t>
            </a:r>
          </a:p>
          <a:p>
            <a:pPr marL="114300" indent="0">
              <a:buNone/>
            </a:pPr>
            <a:endParaRPr lang="en-US" sz="1400" dirty="0">
              <a:latin typeface="Alata" panose="020B0604020202020204" charset="0"/>
              <a:cs typeface="Alata" panose="020B06040202020202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Alata" panose="020B0604020202020204" charset="0"/>
                <a:cs typeface="Alata" panose="020B0604020202020204" charset="0"/>
              </a:rPr>
              <a:t>Velocity per month is generally consistent.</a:t>
            </a:r>
          </a:p>
          <a:p>
            <a:pPr marL="114300" indent="0">
              <a:buNone/>
            </a:pPr>
            <a:endParaRPr lang="en-US" sz="1400" dirty="0">
              <a:latin typeface="Alata" panose="020B0604020202020204" charset="0"/>
              <a:cs typeface="Alata" panose="020B06040202020202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Alata" panose="020B0604020202020204" charset="0"/>
                <a:cs typeface="Alata" panose="020B0604020202020204" charset="0"/>
              </a:rPr>
              <a:t>The future potential for different customers is not consistent.</a:t>
            </a:r>
            <a:endParaRPr lang="en-IN" sz="1400" dirty="0">
              <a:latin typeface="Alata" panose="020B0604020202020204" charset="0"/>
              <a:cs typeface="Alata" panose="020B060402020202020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D1CE84-9494-61E6-CCF8-7B3D63293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487" y="1152475"/>
            <a:ext cx="5413513" cy="2936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2819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D3DD3-60F3-D625-00B3-5A7DECE70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STRATEGIC RECOMMENDATIONS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B2F60A-BCD7-716B-42B6-C5EC977FB0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Alata" panose="020B0604020202020204" charset="0"/>
                <a:cs typeface="Alata" panose="020B0604020202020204" charset="0"/>
              </a:rPr>
              <a:t>Use Rock Genre: Increase Rock genre selection and promote other similar genres such as Alternative and Metal.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>
              <a:latin typeface="Alata" panose="020B0604020202020204" charset="0"/>
              <a:cs typeface="Alata" panose="020B06040202020202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Alata" panose="020B0604020202020204" charset="0"/>
                <a:cs typeface="Alata" panose="020B0604020202020204" charset="0"/>
              </a:rPr>
              <a:t>Loyalty Program for High-Value Customers: Develop loyalty programs for customers who have high spending potential.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>
              <a:latin typeface="Alata" panose="020B0604020202020204" charset="0"/>
              <a:cs typeface="Alata" panose="020B06040202020202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Alata" panose="020B0604020202020204" charset="0"/>
                <a:cs typeface="Alata" panose="020B0604020202020204" charset="0"/>
              </a:rPr>
              <a:t>Re-win Strategy: Re-win strategy for inactive customers with emails and discounts.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>
              <a:latin typeface="Alata" panose="020B0604020202020204" charset="0"/>
              <a:cs typeface="Alata" panose="020B06040202020202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Alata" panose="020B0604020202020204" charset="0"/>
                <a:cs typeface="Alata" panose="020B0604020202020204" charset="0"/>
              </a:rPr>
              <a:t>Geographical Targeting: Invest more in marketing in cities that generate high revenue.</a:t>
            </a:r>
            <a:endParaRPr lang="en-IN" sz="1400" dirty="0">
              <a:latin typeface="Alata" panose="020B0604020202020204" charset="0"/>
              <a:cs typeface="Alata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58884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696EF-6913-FEA1-2E38-6A51F2DF1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9592EB-7A85-0D29-21DE-01ED17E9B4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Alata" panose="020B0604020202020204" charset="0"/>
                <a:cs typeface="Alata" panose="020B0604020202020204" charset="0"/>
              </a:rPr>
              <a:t>Data Integrity: The data cleansing process and the elimination of duplicates helped ensure that all analysis was performed based on unique customer activity.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>
              <a:latin typeface="Alata" panose="020B0604020202020204" charset="0"/>
              <a:cs typeface="Alata" panose="020B06040202020202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Alata" panose="020B0604020202020204" charset="0"/>
                <a:cs typeface="Alata" panose="020B0604020202020204" charset="0"/>
              </a:rPr>
              <a:t>Rock as a Revenue Generator: In the United States, rock is still the highest-performing genre, which means it is an important focus when it comes to increasing revenues and maximizing profitability.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>
              <a:latin typeface="Alata" panose="020B0604020202020204" charset="0"/>
              <a:cs typeface="Alata" panose="020B06040202020202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Alata" panose="020B0604020202020204" charset="0"/>
                <a:cs typeface="Alata" panose="020B0604020202020204" charset="0"/>
              </a:rPr>
              <a:t>Retention Opportunities: Analysis provided important insight into geographic areas with significant upside, allowing us to address customers at risk of attrition.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>
              <a:latin typeface="Alata" panose="020B0604020202020204" charset="0"/>
              <a:cs typeface="Alata" panose="020B06040202020202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Alata" panose="020B0604020202020204" charset="0"/>
                <a:cs typeface="Alata" panose="020B0604020202020204" charset="0"/>
              </a:rPr>
              <a:t>Insights-Driven Decisions: Having gained insights into the dataset, we can now make decisions based on them.</a:t>
            </a:r>
            <a:endParaRPr lang="en-IN" sz="1400" dirty="0">
              <a:latin typeface="Alata" panose="020B0604020202020204" charset="0"/>
              <a:cs typeface="Alata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85675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6A9E0-D364-7612-4939-2F9DFF474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691" y="213112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nton" pitchFamily="2" charset="0"/>
                <a:cs typeface="Alata" panose="020B0604020202020204" charset="0"/>
              </a:rPr>
              <a:t>Data Problems and Their Resolution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65A070-A502-D9F3-729C-ADAF980E1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9422" y="785812"/>
            <a:ext cx="8467591" cy="4357688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endParaRPr lang="en-US" sz="1400" dirty="0">
              <a:latin typeface="Alata" panose="020B0604020202020204" charset="0"/>
              <a:cs typeface="Alata" panose="020B06040202020202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Alata" panose="020B0604020202020204" charset="0"/>
                <a:cs typeface="Alata" panose="020B0604020202020204" charset="0"/>
              </a:rPr>
              <a:t>Lack of Metadata: Managed null entries in Company and Composer through COALESCE to provide clear reporting results.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>
              <a:latin typeface="Alata" panose="020B0604020202020204" charset="0"/>
              <a:cs typeface="Alata" panose="020B06040202020202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Alata" panose="020B0604020202020204" charset="0"/>
                <a:cs typeface="Alata" panose="020B0604020202020204" charset="0"/>
              </a:rPr>
              <a:t>Duplicate Entries: Eliminated duplicate records that had identical names/emails through ROW_NUMBER().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>
              <a:latin typeface="Alata" panose="020B0604020202020204" charset="0"/>
              <a:cs typeface="Alata" panose="020B06040202020202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Alata" panose="020B0604020202020204" charset="0"/>
                <a:cs typeface="Alata" panose="020B0604020202020204" charset="0"/>
              </a:rPr>
              <a:t>Inflexibility of Static Data: Resolved the issue related to the unavailability of CURRENT_DATE for analysis of churn rate.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>
              <a:latin typeface="Alata" panose="020B0604020202020204" charset="0"/>
              <a:cs typeface="Alata" panose="020B06040202020202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Alata" panose="020B0604020202020204" charset="0"/>
                <a:cs typeface="Alata" panose="020B0604020202020204" charset="0"/>
              </a:rPr>
              <a:t>Recency Calculation Correction: Calculated a 180-day window based on the Latest Purchase Date.</a:t>
            </a:r>
          </a:p>
        </p:txBody>
      </p:sp>
    </p:spTree>
    <p:extLst>
      <p:ext uri="{BB962C8B-B14F-4D97-AF65-F5344CB8AC3E}">
        <p14:creationId xmlns:p14="http://schemas.microsoft.com/office/powerpoint/2010/main" val="38997336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8F3"/>
        </a:soli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5"/>
          <p:cNvSpPr txBox="1"/>
          <p:nvPr/>
        </p:nvSpPr>
        <p:spPr>
          <a:xfrm>
            <a:off x="1228582" y="2034918"/>
            <a:ext cx="4681840" cy="1338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700" b="0" i="0" u="none" strike="noStrike" cap="none" dirty="0">
                <a:solidFill>
                  <a:srgbClr val="191515"/>
                </a:solidFill>
                <a:latin typeface="Anton"/>
                <a:ea typeface="Anton"/>
                <a:cs typeface="Anton"/>
                <a:sym typeface="Anton"/>
              </a:rPr>
              <a:t>THANK YOU!</a:t>
            </a:r>
            <a:endParaRPr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EAE8F3"/>
      </a:lt1>
      <a:dk2>
        <a:srgbClr val="191515"/>
      </a:dk2>
      <a:lt2>
        <a:srgbClr val="EAE8F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894</Words>
  <Application>Microsoft Office PowerPoint</Application>
  <PresentationFormat>On-screen Show (16:9)</PresentationFormat>
  <Paragraphs>113</Paragraphs>
  <Slides>18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Anton</vt:lpstr>
      <vt:lpstr>Alata</vt:lpstr>
      <vt:lpstr>Arial</vt:lpstr>
      <vt:lpstr>Simple Light</vt:lpstr>
      <vt:lpstr>PowerPoint Presentation</vt:lpstr>
      <vt:lpstr>PowerPoint Presentation</vt:lpstr>
      <vt:lpstr>PROBLEM STATEMENT</vt:lpstr>
      <vt:lpstr>DATABASE SCHEMA</vt:lpstr>
      <vt:lpstr>DATA OVERVIEW</vt:lpstr>
      <vt:lpstr>METHODOLOGY</vt:lpstr>
      <vt:lpstr>TOP-SELLING TRACKS IN USA</vt:lpstr>
      <vt:lpstr>TOP-ARTISTS IN USA</vt:lpstr>
      <vt:lpstr>TOP 5 COUNTRY REVENUE WISE</vt:lpstr>
      <vt:lpstr>Sales in Different Genre</vt:lpstr>
      <vt:lpstr>Customer Segment Comparison: Long-term vs New Customers</vt:lpstr>
      <vt:lpstr>Customer Risk Segmentation by Country</vt:lpstr>
      <vt:lpstr>Customer Distribution, Value &amp; Churn Analysis by Country</vt:lpstr>
      <vt:lpstr>Customer Value, Velocity &amp; Future Potential Analysis</vt:lpstr>
      <vt:lpstr>STRATEGIC RECOMMENDATIONS</vt:lpstr>
      <vt:lpstr>CONCLUSION</vt:lpstr>
      <vt:lpstr>Data Problems and Their Resolution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Mohit Rahangdale</dc:creator>
  <cp:lastModifiedBy>Mohit Rahangdale</cp:lastModifiedBy>
  <cp:revision>16</cp:revision>
  <dcterms:modified xsi:type="dcterms:W3CDTF">2026-04-07T13:37:08Z</dcterms:modified>
</cp:coreProperties>
</file>